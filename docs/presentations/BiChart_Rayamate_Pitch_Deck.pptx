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1371600"/>
            <a:ext cx="5029200" cy="411480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14400" y="4572000"/>
            <a:ext cx="4114800" cy="320040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73152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A7F3D0"/>
                </a:solidFill>
                <a:latin typeface="Tahoma"/>
                <a:ea typeface="Tahoma"/>
                <a:cs typeface="Tahoma"/>
              </a:rPr>
              <a:t>PITCH DECK  |  ارائه معرفی محصول به مدیران و سرمایه‌گذاران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62895" cy="10058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BiChart  /  رایامیت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نسل نوین هوش تجاری مکالمه‌محور برای صنعت پرداخت الکترونیک و بانکی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448495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تبدیل داده‌های چندمیلیونی تراکنش‌ها به بینش‌های استراتژیک تنها با یک مکالمه طبیعی فارسی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937760"/>
            <a:ext cx="7619695" cy="640080"/>
          </a:xfrm>
          <a:prstGeom prst="roundRect">
            <a:avLst/>
          </a:prstGeom>
          <a:solidFill>
            <a:srgbClr val="132D23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5047488"/>
            <a:ext cx="7436815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امنیت چندلایه Zero-Trust  •  پشتیبانی از مدل‌های محلی On-Premise  •  تولید خودکار SQL و تحلیل آماری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توسعه‌یافته برای اکوسیستم بهپرداخت ملت و فعالان نظام پرداخت کشور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صفحه 1 از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THE PROBLEM  |  شناسایی گلوگاه‌های کلیدی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چرا ابزارهای سنتی BI و هوش مصنوعی عمومی در صنعت پرداخت ناکارآمدند؟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201168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27632"/>
            <a:ext cx="20116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تاخیر ۳ تا ۷ روزه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26517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گلوگاه صف گزارش‌گیری (Bottleneck)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709160" cy="13258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مدیران کسب‌وکار برای هر سوال تحلیلی باید در صف انتظار تیم دیتابیس/BI بمانند. زمان پاسخ از چند ساعت تا چند روز به درازا می‌کشد و فرصت تصمیم‌گیری از دست می‌رود.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201168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27632"/>
            <a:ext cx="20116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افت ۴۰٪ مشارکت مدیران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600200"/>
            <a:ext cx="26517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پیچیدگی ابزارهای سنتی (High Complexity)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4709160" cy="13258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داشبوردهایی مانند PowerBI و Tableau نیازمند آموزش تخصصی و تسلط به DAX/SQL هستند و هیچ درک معنایی از زبان فارسی یا ادبیات بانکی شاپرک ندارند.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201168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05071"/>
            <a:ext cx="20116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ریسک نشت داده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77639"/>
            <a:ext cx="26517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ممنوعیت امنیتی ابزارهای خارجی (Security Risk)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59"/>
            <a:ext cx="4709160" cy="13258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ارسال داده‌های مالی و تراکنشی پذیرندگان به مدل‌های ابری عمومی (مانند ChatGPT) طبق الزامات بانک مرکزی و پدافند سایبری اکیداً ممنوع و پرریسک است.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977639"/>
            <a:ext cx="201168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05071"/>
            <a:ext cx="20116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عدم درک چرایی داده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977639"/>
            <a:ext cx="26517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تحلیل خام بدون روایت‌گری (Lack of Context)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59"/>
            <a:ext cx="4709160" cy="13258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ابزارهای متداول فقط ارقام و نمودارهای خام نشان می‌دهند؛ درحالی‌که مدیران به تفسیر روایی، تشخیص ناهنجاری، مقایسه دوره‌ای و پیش‌بینی روندهای آینده نیاز دارند.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2 از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THE SOLUTION  |  ارزش پیشنهادی محوری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رایامیت: تبدیل مکالمه طبیعی به هوش تجاری عملیاتی در چند ثانیه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0" y="1508760"/>
            <a:ext cx="13716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7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۱. گفتگوی کاملاً بومی به زبان فارسی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14984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درک اصطلاحات تخصصی شبکه پرداخت (پذیرنده، سوییچ، پایانه، شاپرک، افت تراکنش، وفاداری) بدون نیاز به کدنویسی یا یادگیری نرم‌افزار جدید.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0" y="2697480"/>
            <a:ext cx="13716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7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۲. معماری امنیت داده درون‌سازمانی (On-Premise)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14984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پشتیبانی کامل از مدل‌های زبانی محلی بانکی (Gemma/Llama عبر Ollama) بدون خروج حتی یک بایت داده مالی از شبکه خصوصی شرکت.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47120" y="3886199"/>
            <a:ext cx="13716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7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۳. گاردریل امنیتی پیشرفته SQL (Zero-Trust)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1014984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بازنویسی خودکار کوئری در سطح ردیف (Row-Level Security) متناسب با مشتری مجاز، مسدودسازی ۱۰۰٪ کدهای مخرب و محدودیت خواندنی SELECT.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247120" y="5074920"/>
            <a:ext cx="13716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7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۴. مصورسازی خودکار و تحلیل هوشمند روایی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14984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تولید هم‌زمان جدول اطلاعاتی، نمودار آماری تعاملی و یک پاراگراف تحلیل هوشمند به همراه پیش‌بینی روندهای آتی و توصیه‌های تجاری.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3 از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PRODUCT EXPERIENCE  |  دمو و قابلیت‌های کاربری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تجربه کاربری یکپارچه، سبک، با سرعت پاسخگویی زیر ۲ ثانیه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ویژگی‌های ارگونومیک داشبورد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54880" cy="3840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اقدامات سریع (Quick Prompts) با یک کلیک برای سوالات پرکاربرد مدیران</a:t>
            </a:r>
          </a:p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نمایش شفاف کوئری SQL تولیدشده همراه با زمان‌سنجی دقیق اجرای دیتابیس</a:t>
            </a:r>
          </a:p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رسم خودکار نمودارهای میله‌ای، افقی و هیستوگرام متناسب با ابعاد داده</a:t>
            </a:r>
          </a:p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قابلیت تغییر آسان موتور هوش مصنوعی میان AvalAI (ابری) و Ollama (محلی)</a:t>
            </a:r>
          </a:p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خروجی رسمی فوری به فرمت اکسل (Excel) و گزارش سازمانی PDF</a:t>
            </a:r>
          </a:p>
          <a:p>
            <a:pPr algn="r">
              <a:spcAft>
                <a:spcPts val="9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پنل مدیریت کاربران، نقش‌های دسترسی و نظرسنجی رضایت کاربران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37744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210312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زیر ۲ ثانیه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210312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سرعت تولید و اجرای کوئری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210312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بهینه‌سازی شده در خط پردازش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37744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10312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۱۰۰٪ ایمن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40280"/>
            <a:ext cx="210312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جداسازی داده در سطح مشتری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51760"/>
            <a:ext cx="210312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Row-Level Scoping بدون نشت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237744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31919"/>
            <a:ext cx="210312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دو زبانه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617719"/>
            <a:ext cx="210312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پشتیبانی فارسی و انگلیسی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029199"/>
            <a:ext cx="210312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تطبیق خودکار با عبارات محاوره‌ای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749039"/>
            <a:ext cx="237744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3931919"/>
            <a:ext cx="210312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۳ کلیک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617719"/>
            <a:ext cx="210312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از ورود تا خروجی اکسل/PDF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029199"/>
            <a:ext cx="210312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بدون نیاز به نصب نرم‌افزار اضافی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4 از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TECHNICAL ARCHITECTURE  |  معماری فنی و امنیت بانکی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معماری ماژولار با خط لوله ۷ مرحله‌ای امن‌سازی و پردازش کوئری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822960" cy="685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08760"/>
            <a:ext cx="932688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لایه ۱: دسترسی و احراز هویت (Identity)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20"/>
            <a:ext cx="93268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سیستم ورود امن با کپچای ضدبات، مدیریت نشست‌های رمزنگاری‌شده، نقش‌های RBAC (کاربر، کارشناس BI، مدیر ارشد) و تفکیک مشتریان.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743200"/>
            <a:ext cx="822960" cy="685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97480"/>
            <a:ext cx="932688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لایه ۲: خط تبدیل متن به زبان داده (Text-to-SQL)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63240"/>
            <a:ext cx="93268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پرامپت‌های مهندسی‌شده با قوانین سختگیرانه JSON، تزریق متادیتای پایگاه‌داده و مدل‌های زبانی فارسی برای استخراج دقیق ساختار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931919"/>
            <a:ext cx="822960" cy="685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86199"/>
            <a:ext cx="932688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لایه ۳: گاردریل امنیتی و اسکوپینگ (SQL Guard)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251959"/>
            <a:ext cx="93268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بررسی AST دستورات، مسدودسازی قطعی توابع مخرب (DROP/UPDATE/INSERT)، بازنویسی خودکار کوئری با Customer Scope و محدودسازی رکوردها.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120640"/>
            <a:ext cx="822960" cy="685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074920"/>
            <a:ext cx="932688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لایه ۴: موتور تحلیل روایی و پیش‌بینی (Narrative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440680"/>
            <a:ext cx="93268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محاسبه شاخص‌های توصیفی (رشد، سهم بازار، میانه، انحراف معیار) و فراخوانی مجدد LLM جهت تدوین تحلیل تحلیلی و هشدار روندهای منفی.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5 از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MARKET OPPORTUNITY  |  فرصت و اندازه بازار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بازار بزرگ بیش از ۴ میلیارد تراکنش ماهانه در نظام بانکی و پرداخت ایران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564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TAM: بازار کل هوش تجاری و هوش مصنوعی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90672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بیش از ۳۵۰ میلیون دلار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90672" cy="1188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کل بازار نرم‌افزارهای BI، انبار داده و دستیاران هوش مصنوعی سازمانی در خاورمیانه و صنایع مالی ایران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564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SAM: بازار پرداخت و بانکداری الکترونیک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03120"/>
            <a:ext cx="3090672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بیش از ۵۰ میلیون دلار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926080"/>
            <a:ext cx="3090672" cy="1188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۱۲ شرکت PSP، بیش از ۳۰ بانک و موسسه مالی، و بیش از ۱۵۰ پرداخت‌یار فعال متصل به شاپرک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371600"/>
            <a:ext cx="34564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55448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SOM: سهم بازار هدف در ۲ سال نخست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03120"/>
            <a:ext cx="3090672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۵ میلیون دلار (۵۰+ سازمان)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926080"/>
            <a:ext cx="3090672" cy="1188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دستیابی به ۴ شرکت PSP برتر، ۱۰ بانک بزرگ و ۳۰ هلدینگ زنجیره‌ای بزرگ خرده‌فروشی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0A1F17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مشتریان هدف و بهره‌برداران کلیدی سامانه: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۱. مدیران ارشد و هیئت‌مدیره PSPها (پایش آنی سهم بازار و سودآوری)   •   ۲. مدیران بازاریابی و امور پذیرندگان (شناسایی پایانه‌های کم‌کارکرد و وفادار)
۳. مدیران ریسک و امنیت (کشف رفتار مشکوک و مغایرت‌های تسویه)   •   ۴. شرکت‌های پرداخت‌یار و فروشگاه‌های زنجیره‌ای بزرگ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6 از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BUSINESS MODEL  |  مدل درآمدی و تجاری‌سازی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جریان‌های متنوع درآمدی B2B با تکیه بر استقرار On-Premise و لایسنس سالانه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56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00200"/>
            <a:ext cx="2724912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2724912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اشتراک ماهانه / سالانه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لایسنس پایه (Starter)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906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مناسب پرداخت‌یارها و فین‌تک‌ها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907792" cy="2743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استقرار متمرکز ابری خصوصی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تا ۵۰ کاربر فعال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پشتیبانی از دیتابیس‌های رابطه‌ای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به‌روزرسانی فصلی مدل‌ها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56432" cy="47548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36592" y="1600200"/>
            <a:ext cx="2724912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2724912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لایسنس سالانه + پشتیبانی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4884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سازمانی (Enterprise)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606040"/>
            <a:ext cx="30906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مناسب شرکت‌های PSP و بانک‌ها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108960"/>
            <a:ext cx="2907792" cy="2743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استقرار کامل On-Premise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کاربران نامحدود و دسترسی سازمانی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تیونینگ مدل زبانی با دیتای بانکی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پشتیبانی ۲۴/۷ و SLA اختصاصی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371600"/>
            <a:ext cx="34564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75904" y="1600200"/>
            <a:ext cx="2724912" cy="365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645920"/>
            <a:ext cx="2724912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قرارداد پروژه‌ای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148840"/>
            <a:ext cx="309067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خدمات شخصی‌سازی (Customization)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606040"/>
            <a:ext cx="30906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اتصال به Core Banking و انبار داده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108960"/>
            <a:ext cx="2907792" cy="2743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یکپارچه‌سازی با Oracle/ClickHouse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طراحی داشبوردهای اختصاصی هیئت‌مدیره</a:t>
            </a:r>
          </a:p>
          <a:p>
            <a:pPr algn="r"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 آموزش پرسنل و مشاوره استقرار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7 از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COMPETITIVE ADVANTAGE  |  مزیت‌های رقابتی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چرا رایامیت در مقایسه با رقبا انتخاب قطعی نظام پرداخت است؟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09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★  سازگاری عمیق با ادبیات بانکی فارسی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مدل‌های عمومی خارجی مفاهیمی نظیر «پذیرنده»، «پایانه بی‌سیم»، «تسویه شاپرکی» و «کارمزد سپام» را اشتباه تفسیر می‌کنند، درحالی‌که رایامیت دقیقاً برای اصطلاحات پرداخت ایران کالیبره شده است.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09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★  امنیت کامل داده و استقرار On-Premise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0916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امکان اجرای ۱۰۰٪ بدون نیاز به اینترنت بین‌الملل و بدون ارتباط با سرورهای خارجی؛ داده‌های حساس بانکی درون دیوار آتشین (Firewall) سازمان باقی می‌مانند.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4709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★  رویکرد Zero-Training برای کاربران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39"/>
            <a:ext cx="470916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نیازی به ساعت‌ها آموزش کار با ابزارهای پیچیده گزارش‌گیری نیست. هر مدیر یا کارشناس با زبان محاوره‌ای روزمره، همانند چت کردن با دستیار متخصص گزارش می‌گیرد.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709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★  سرعت راه‌اندازی شگفت‌انگیز (زیر ۲ هفته)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39"/>
            <a:ext cx="470916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اتصال سریع به پایگاه‌داده‌های موجود بانک یا PSP بدون نیاز به ماه‌ها پروژه سنگین انبار داده؛ ایجاد بازگشت سریع سرمایه (Rapid ROI).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8 از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USE CASES  |  سناریوهای عملیاتی در صنعت پرداخت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نمونه سوالات واقعی مدیران و نحوه پاسخگویی هوشمند سامانه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14984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پایش ریزش پذیرندگان (Churn Detection)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486400" cy="502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پرسش مدیر: «کدام فروشگاه‌های با تراکنش بالای ۵۰ میلیون تومان، در ۲ هفته گذشته افت بیش از ۳۰ درصدی داشتند؟»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466344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4805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1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دست‌آورد تجاری: شناسایی سریع خرابی پایانه یا ورود رقبا قبل از مهاجرت قطعی پذیرنده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70048"/>
            <a:ext cx="1014984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تحلیل سهم بازار اصناف و شهرها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5486400" cy="502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پرسش مدیر: «سهم مبلغی تراکنش‌های صنف سوپرمارکت در شهر مشهد در ماه گذشته نسبت به ماه قبل چگونه بوده است؟»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971800"/>
            <a:ext cx="466344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44805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1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دست‌آورد تجاری: تصمیم‌گیری استراتژیک برای تخصیص و جمع‌آوری پایانه‌های کارتخوان (POS)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7"/>
            <a:ext cx="1014984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ارزیابی کارمزد و سودآوری پذیرنده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19"/>
            <a:ext cx="5486400" cy="502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پرسش مدیر: «۱۰ پذیرنده با بالاترین سودآوری کارمزدی برای شرکت در ۳ ماه اخیر را با نمودار نشان بده.»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160519"/>
            <a:ext cx="466344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39"/>
            <a:ext cx="44805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1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دست‌آورد تجاری: تمرکز خدمات VIP و پشتیبانی ویژه روی پذیرندگان طلایی شرکت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47488"/>
            <a:ext cx="1014984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5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گزارش‌گیری فوری برای جلسات هیئت‌مدیره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5486400" cy="502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پرسش مدیر: «خلاصه مقایسه‌ای حجم تراکنش‌های موفق و ناموفق امروز نسبت به میانگین هفته گذشته»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5349240"/>
            <a:ext cx="4663440" cy="502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394960"/>
            <a:ext cx="44805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1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دست‌آورد تجاری: پاسخگویی لحظه‌ای در صحن جلسه بدون معطلی و بدون درگیری تیم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9 از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PRODUCT ROADMAP  |  نقشه راه توسعه محصول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برنامه توسعه ۴ فازی برای تبدیل شدن به مغز متفکر هوش تجاری پرداخت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2176272" cy="54864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1762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26771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 نسخه فعلی (تکمیل شده)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176272" cy="32004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خط Text-to-SQL بهینه و ایمن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اتصال به دیتابیس تراکنش‌ها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مصورسازی و تحلیل روایی هوش مصنوعی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خروجی اکسل، PDF و مدیریت کاربران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554480"/>
            <a:ext cx="2176272" cy="54864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45920"/>
            <a:ext cx="21762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194560"/>
            <a:ext cx="226771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 ۳ ماهه آینده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651760"/>
            <a:ext cx="2176272" cy="32004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تشخیص خودکار ناهنجاری (Anomaly Detection)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پیش‌بینی سری‌های زمانی با الگوریتم‌های مالی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سیستم آلرتینگ روی افت ناگهانی تراکنش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ادغام با انبار داده ClickHouse / Oracle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7160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554480"/>
            <a:ext cx="2176272" cy="54864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645920"/>
            <a:ext cx="21762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94560"/>
            <a:ext cx="226771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 ۶ ماهه آینده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651760"/>
            <a:ext cx="2176272" cy="32004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دستیار صوتی فارسی (Voice-to-BI)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اتصال به پیام‌رسان‌های سازمانی (بله/تلگرام)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گزارش‌گیری زمان‌بندی‌شده خودکار روزانه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ماژول بهینه‌سازی پورسانت بازاریاب‌ها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371600"/>
            <a:ext cx="254203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9136" y="1554480"/>
            <a:ext cx="2176272" cy="54864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645920"/>
            <a:ext cx="217627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194560"/>
            <a:ext cx="226771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2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 افق یک‌ساله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651760"/>
            <a:ext cx="2176272" cy="32004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سیستم تصمیم‌یار خودکار (Prescriptive AI)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تحلیل رفتار و دسته‌بندی هوشمند مشتریان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اتصال یکپارچه با سوییچ بانکی Core</a:t>
            </a:r>
          </a:p>
          <a:p>
            <a:pPr algn="r"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•  لایسنسینگ برای سایر PSPهای منطقه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10 از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200" b="1">
                <a:solidFill>
                  <a:srgbClr val="ECFDF5"/>
                </a:solidFill>
                <a:latin typeface="Tahoma"/>
                <a:ea typeface="Tahoma"/>
                <a:cs typeface="Tahoma"/>
              </a:rPr>
              <a:t>THE PROPOSAL  |  پیشنهاد همکاری و توجیه اقتصادی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بازگشت سرمایه در کمتر از ۶ ماه با افزایش بهره‌وری و نجات پذیرندگان پرگردش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1600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834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۷۰٪ کاهش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8348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زمان تهیه گزارش‌های تحلیلی مدیریتی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9834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از میانگین ۳ روز به کمتر از چند ثانیه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1600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49834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۱۵٪ کاهش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498348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ریزش پذیرندگان کلیدی با پایش زودهنگام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49834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حفظ حداقل ۲۰ میلیارد ریال گردش در ماه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257800" cy="1600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9834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۸۰٪ کاهش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40"/>
            <a:ext cx="498348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بار کاری تکراری تیم‌های پایگاه داده و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49834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آزادسازی زمان تیم فنی برای پروژه‌های زیرساختی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08960"/>
            <a:ext cx="5257800" cy="1600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91840"/>
            <a:ext cx="49834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800" b="1">
                <a:solidFill>
                  <a:srgbClr val="047857"/>
                </a:solidFill>
                <a:latin typeface="Tahoma"/>
                <a:ea typeface="Tahoma"/>
                <a:cs typeface="Tahoma"/>
              </a:rPr>
              <a:t>زیر ۳۰ روز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40"/>
            <a:ext cx="498348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1">
                <a:solidFill>
                  <a:srgbClr val="0F2A1F"/>
                </a:solidFill>
                <a:latin typeface="Tahoma"/>
                <a:ea typeface="Tahoma"/>
                <a:cs typeface="Tahoma"/>
              </a:rPr>
              <a:t>مدت زمان پیاده‌سازی و استقرار اولیه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89120"/>
            <a:ext cx="498348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بدون وقفه در فرآیندهای روزمره سازمان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پیشنهاد فاز پایلوت (Pilot Program):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1014984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300" b="0">
                <a:solidFill>
                  <a:srgbClr val="ECFDF5"/>
                </a:solidFill>
                <a:latin typeface="Tahoma"/>
                <a:ea typeface="Tahoma"/>
                <a:cs typeface="Tahoma"/>
              </a:rPr>
              <a:t>اجرای آزمایشی ۳۰ روزه در یکی از معاونت‌های بهپرداخت ملت با اتصال به داده‌های منتخب • ارائه گزارش عملکرد تحلیلی و مقایسه‌ای • سنجش رضایت مدیران و اثبات کارایی بدون هزینه اولیه زیرساخت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صفحه 11 از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0" y="-1371600"/>
            <a:ext cx="5029200" cy="411480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914400" y="4572000"/>
            <a:ext cx="4114800" cy="3200400"/>
          </a:xfrm>
          <a:prstGeom prst="roundRect">
            <a:avLst/>
          </a:prstGeom>
          <a:solidFill>
            <a:srgbClr val="13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آینده هوش تجاری در صنعت پرداخت با مکالمه آغاز می‌شود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48495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800" b="0">
                <a:solidFill>
                  <a:srgbClr val="ECFDF5"/>
                </a:solidFill>
                <a:latin typeface="Tahoma"/>
                <a:ea typeface="Tahoma"/>
                <a:cs typeface="Tahoma"/>
              </a:rPr>
              <a:t>سامانه رایامیت (BiChart) آماده ایجاد تحول در تصمیم‌گیری‌های داده‌محور شماست.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91840"/>
            <a:ext cx="6705295" cy="2011680"/>
          </a:xfrm>
          <a:prstGeom prst="roundRect">
            <a:avLst/>
          </a:prstGeom>
          <a:solidFill>
            <a:srgbClr val="132D23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520440"/>
            <a:ext cx="6339535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600" b="1">
                <a:solidFill>
                  <a:srgbClr val="A7F3D0"/>
                </a:solidFill>
                <a:latin typeface="Tahoma"/>
                <a:ea typeface="Tahoma"/>
                <a:cs typeface="Tahoma"/>
              </a:rPr>
              <a:t>راه‌های ارتباطی و مشاهده دمو زنده: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977639"/>
            <a:ext cx="6339535" cy="10972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نشانی وب‌سایت دمو: bichart.local  /  درگاه سازمانی بهپرداخت ملت
ایمیل تیم محصول: product@bichart.ir
مستندات معماری و کاتالوگ قابلیت‌ها در پوشه docs/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از توجه و همراهی شما سپاسگزاریم  •  پرسش و پاسخ (Q&amp;A)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45720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BiChart / Rayamate  |  سامانه هوش تجاری مکالمه‌محور صنعت پرداخت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36576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r"/>
            <a:r>
              <a:rPr sz="10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صفحه 12 از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